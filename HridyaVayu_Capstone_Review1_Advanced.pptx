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1_img1_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94360"/>
            <a:ext cx="2926080" cy="146097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1737360"/>
            <a:ext cx="3474720" cy="384048"/>
          </a:xfrm>
          <a:prstGeom prst="roundRect">
            <a:avLst/>
          </a:prstGeom>
          <a:solidFill>
            <a:srgbClr val="E0F2FE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CAPSTONE PHASE 1 • REVIEW 1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HridyaVayu: A Hybrid Neuro-Symbolic Framework for Connected Asthma Risk Stratification</a:t>
            </a:r>
          </a:p>
          <a:p>
            <a:pPr>
              <a:spcBef>
                <a:spcPts val="800"/>
              </a:spcBef>
              <a:defRPr sz="1400" i="1">
                <a:solidFill>
                  <a:srgbClr val="0284C7"/>
                </a:solidFill>
              </a:defRPr>
            </a:pPr>
            <a:r>
              <a:t>Continuous Multi-Modal Atmospheric Telemetry Fused with Standardized GINA Clinical Decision 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10725912" cy="16459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006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Team HridyaVayu (Group — 147)  |  Department of Computer Science &amp; Engineering, VIT Bhopal University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</a:defRPr>
            </a:pPr>
            <a:r>
              <a:t>Students: Pulkit Agrawal (23BCE10735)  •  Snehal Baranwal (23BCE10479)  •  Snehil Priyam (23BCE11200)  •  Kabir Roy (23BCE10815)  •  Parshv Keyur Modi (23BCE10807)</a:t>
            </a:r>
          </a:p>
          <a:p>
            <a:pPr>
              <a:spcBef>
                <a:spcPts val="400"/>
              </a:spcBef>
              <a:defRPr sz="1050" b="1">
                <a:solidFill>
                  <a:srgbClr val="0284C7"/>
                </a:solidFill>
              </a:defRPr>
            </a:pPr>
            <a:r>
              <a:t>Project Supervisor: Dr. Ajeet Singh  |  Academic Year: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TEAM FORMATION &amp; OWNERSHIP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Team Members &amp; Individual Engineering Ownership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29968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2_img7_36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1508760"/>
            <a:ext cx="1188720" cy="1188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788920"/>
            <a:ext cx="184708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Pulkit Agrawal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23BCE10735</a:t>
            </a:r>
          </a:p>
          <a:p>
            <a:pPr algn="ctr">
              <a:spcBef>
                <a:spcPts val="300"/>
              </a:spcBef>
              <a:defRPr sz="900" b="1">
                <a:solidFill>
                  <a:srgbClr val="D97706"/>
                </a:solidFill>
              </a:defRPr>
            </a:pPr>
            <a:r>
              <a:t>System Backend &amp; CAMS API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Designed Flask microframework &amp; REST routes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Engineered Open-Meteo European CAMS API ingestion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Implemented SQLite schema &amp; telemetry logging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Developed emergency SOS alert dispatch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98648" y="1325880"/>
            <a:ext cx="2029968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2_img9_36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9272" y="1508760"/>
            <a:ext cx="1188720" cy="1188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90088" y="2788920"/>
            <a:ext cx="184708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Snehal Baranwal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23BCE10479</a:t>
            </a:r>
          </a:p>
          <a:p>
            <a:pPr algn="ctr">
              <a:spcBef>
                <a:spcPts val="300"/>
              </a:spcBef>
              <a:defRPr sz="900" b="1">
                <a:solidFill>
                  <a:srgbClr val="D97706"/>
                </a:solidFill>
              </a:defRPr>
            </a:pPr>
            <a:r>
              <a:t>Frontend SPA &amp; Clinical UX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Developed responsive Single-Page Application (SPA)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Built 5-step GINA symptom survey questionnaire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Implemented Chart.js telemetry visualization gauges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Engineered client-side Fetch API async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325880"/>
            <a:ext cx="2029968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ge2_img10_37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508760"/>
            <a:ext cx="1188720" cy="1188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157216" y="2788920"/>
            <a:ext cx="184708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Snehil Priyam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23BCE11200</a:t>
            </a:r>
          </a:p>
          <a:p>
            <a:pPr algn="ctr">
              <a:spcBef>
                <a:spcPts val="300"/>
              </a:spcBef>
              <a:defRPr sz="900" b="1">
                <a:solidFill>
                  <a:srgbClr val="D97706"/>
                </a:solidFill>
              </a:defRPr>
            </a:pPr>
            <a:r>
              <a:t>Documentation &amp; Compliance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Authored comprehensive Capstone Phase 1 report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Structured IEEE reference catalog &amp; citations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Formulated functional &amp; non-functional requirements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Aligned project metrics with medical UX standards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4" y="1325880"/>
            <a:ext cx="2029968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age2_img8_365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1508760"/>
            <a:ext cx="1188720" cy="1188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24344" y="2788920"/>
            <a:ext cx="184708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Kabir Roy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23BCE10815</a:t>
            </a:r>
          </a:p>
          <a:p>
            <a:pPr algn="ctr">
              <a:spcBef>
                <a:spcPts val="300"/>
              </a:spcBef>
              <a:defRPr sz="900" b="1">
                <a:solidFill>
                  <a:srgbClr val="D97706"/>
                </a:solidFill>
              </a:defRPr>
            </a:pPr>
            <a:r>
              <a:t>ML Prediction Logic &amp; Safety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Engineered collaborative soft-voting ensemble (LR, RF, GB)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Formulated GINA Step-5 deterministic safety override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Implemented Shannon entropy uncertainty quantification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Built explainable AI SHAP attribution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1325880"/>
            <a:ext cx="2029968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ge2_img11_374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0656" y="1508760"/>
            <a:ext cx="1188720" cy="1188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491472" y="2788920"/>
            <a:ext cx="1847088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Parshv Keyur Modi</a:t>
            </a:r>
          </a:p>
          <a:p>
            <a:pPr algn="ctr">
              <a:defRPr sz="950" b="1">
                <a:solidFill>
                  <a:srgbClr val="0284C7"/>
                </a:solidFill>
              </a:defRPr>
            </a:pPr>
            <a:r>
              <a:t>23BCE10807</a:t>
            </a:r>
          </a:p>
          <a:p>
            <a:pPr algn="ctr">
              <a:spcBef>
                <a:spcPts val="300"/>
              </a:spcBef>
              <a:defRPr sz="900" b="1">
                <a:solidFill>
                  <a:srgbClr val="D97706"/>
                </a:solidFill>
              </a:defRPr>
            </a:pPr>
            <a:r>
              <a:t>Dataset Curation &amp; Training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Curated 1,000 multimodal clinical &amp; sensor records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Engineered 22-dimensional normalized feature vector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Implemented 5-fold stratified cross-validation</a:t>
            </a:r>
          </a:p>
          <a:p>
            <a:pPr>
              <a:spcBef>
                <a:spcPts val="300"/>
              </a:spcBef>
              <a:defRPr sz="819">
                <a:solidFill>
                  <a:srgbClr val="1E293B"/>
                </a:solidFill>
              </a:defRPr>
            </a:pPr>
            <a:r>
              <a:t>• Validated models on Zenodo (1,010) &amp; Kaggle (2,392)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EPIDEMIOLOGICAL CONTEXT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Clinical Motivation &amp; The Indian Respiratory Health Crisis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84632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Severe Disproportion in Indian Asthma Care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</a:defRPr>
            </a:pPr>
            <a:r>
              <a:t>• 34.3 Million: </a:t>
            </a:r>
            <a:r>
              <a:rPr b="0" sz="1050">
                <a:solidFill>
                  <a:srgbClr val="1E293B"/>
                </a:solidFill>
              </a:rPr>
              <a:t>Indian Patients living with chronic asthma (11.1% of global cases).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</a:defRPr>
            </a:pPr>
            <a:r>
              <a:t>• 42.4% Deaths: </a:t>
            </a:r>
            <a:r>
              <a:rPr b="0" sz="1050">
                <a:solidFill>
                  <a:srgbClr val="1E293B"/>
                </a:solidFill>
              </a:rPr>
              <a:t>India accounts for nearly half of all global asthma-related fatalities (Lancet Global Health).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</a:defRPr>
            </a:pPr>
            <a:r>
              <a:t>• 365 µg/m³: </a:t>
            </a:r>
            <a:r>
              <a:rPr b="0" sz="1050">
                <a:solidFill>
                  <a:srgbClr val="1E293B"/>
                </a:solidFill>
              </a:rPr>
              <a:t>Peak winter PM2.5 concentrations in megacities, exceeding WHO safe thresholds by over 24x.</a:t>
            </a:r>
          </a:p>
          <a:p>
            <a:pPr>
              <a:spcBef>
                <a:spcPts val="1000"/>
              </a:spcBef>
              <a:defRPr sz="1100" b="1">
                <a:solidFill>
                  <a:srgbClr val="0284C7"/>
                </a:solidFill>
              </a:defRPr>
            </a:pPr>
            <a:r>
              <a:t>• Reactive Care Gap: </a:t>
            </a:r>
            <a:r>
              <a:rPr b="0" sz="1050">
                <a:solidFill>
                  <a:srgbClr val="1E293B"/>
                </a:solidFill>
              </a:rPr>
              <a:t>Current protocols rely solely on post-attack rescue inhalers rather than preemptive environmental forecasting.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25880"/>
            <a:ext cx="56967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ndia_asthma_urban_cri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08760"/>
            <a:ext cx="5422392" cy="22772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CONCEPTUAL INNOVATION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Addressing Literature Gaps via a Neuro-Symbolic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1206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063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91C1C"/>
                </a:solidFill>
              </a:defRPr>
            </a:pPr>
            <a:r>
              <a:t>Pure ML Models (Black-Box)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Limitations in Existing Work: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Complex non-linear models (SVM, neural nets) lack clinical interpretability for attending physicians.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Susceptible to catastrophic False Negatives: an acute patient in clean air can be classified as Low Risk.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High data-dependency: noisy sensor inputs degrade classification certainty.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Fails to enforce medical safety standards during emergency dyspnea flare-ups.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325880"/>
            <a:ext cx="3429000" cy="51206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62856" y="1508760"/>
            <a:ext cx="3063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45309"/>
                </a:solidFill>
              </a:defRPr>
            </a:pPr>
            <a:r>
              <a:t>Static Clinical Guidelines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Limitations in Existing Work: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Traditional GINA surveys evaluate symptoms retrospectively (e.g. past 4 weeks).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Completely blind to real-time ambient particulate triggers (PM2.5 spikes, NO2, AQI shifts).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Cannot deliver preemptive warnings before atmospheric conditions induce airway inflammation.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Manual and burdensome: lacks automated digital sensor ingestion.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325880"/>
            <a:ext cx="3429000" cy="51206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508760"/>
            <a:ext cx="3063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803D"/>
                </a:solidFill>
              </a:defRPr>
            </a:pPr>
            <a:r>
              <a:t>HridyaVayu: Hybrid Paradigm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The Proposed Neuro-Symbolic Solution: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Dual-Stream Ingestion: Fuses live ambient sensing with structured GINA survey inputs.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Collaborative Soft-Voting: Ensembles LR (linear odds), RF (bagging), and GB (boosting).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Deterministic Safety Override: Enforces GINA Step-5 rules: acute nocturnal dyspnea forces High Risk (P &gt;= 0.88).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• Zero Fatal False Negatives: Increases High-Risk detection from 86.3% to 95.2%.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SYSTEM ENGINEERING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High-Level System Architecture &amp; 5-Tier Operational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9436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ystem_architectur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17320"/>
            <a:ext cx="5669280" cy="2305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0" y="1325880"/>
            <a:ext cx="4599432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463040"/>
            <a:ext cx="4206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Architectural Tier Decomposition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Tier 1: Multimodal Sensing Layer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Captures client GPS coordinates, queries Open-Meteo European CAMS API (AQI, PM2.5, NO2, SO2, weather), and ingests GINA questionnaire.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Tier 2: Feature Engineering &amp; Preprocessing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Applies isolated StandardScaler normalization, categorical encoding, and calculates non-linear interaction terms into a 22-dimensional vector.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Tier 3: Collaborative ML Inference Engine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Executes parallel probability estimation across Logistic Regression, Random Forest, and Gradient Boosting, combining outputs via soft-voting.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Tier 4: Neuro-Symbolic Safety Guardrail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Applies deterministic GINA Step-5 rules to guarantee zero false negatives and calculates Shannon entropy uncertainty.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Tier 5: Presentation &amp; Telemetry Persistence</a:t>
            </a:r>
          </a:p>
          <a:p>
            <a:pPr>
              <a:spcBef>
                <a:spcPts val="100"/>
              </a:spcBef>
              <a:defRPr sz="919">
                <a:solidFill>
                  <a:srgbClr val="1E293B"/>
                </a:solidFill>
              </a:defRPr>
            </a:pPr>
            <a:r>
              <a:t>Renders patient dashboard, executes emergency SOS dispatch, tracks inhaler canister actuations, and writes to SQLite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DATA FLOW ARCHITECTURE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Modular Data Flow: Frontend, Backend, and AI Inference Pipelines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fd_frontend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3154680" cy="14406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Frontend Presentation Flow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Responsive Single-Page Application (HTML5 / CSS3 / ES6+ JS)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GINA 5-question clinical intake modal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Real-time browser GPS capture &amp; asynchronous Fetch API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Dynamic Chart.js risk gauge &amp; telemetry monitors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fd_backend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463040"/>
            <a:ext cx="3154680" cy="8517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17136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Backend RESTful Services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Lightweight Flask runtime with CORS protection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European CAMS atmospheric satellite polling module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SQLite relational schema (users, sensor, quiz, alerts)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Inhaler dose tracking counter &amp; SOS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fd_ai_model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463040"/>
            <a:ext cx="3154680" cy="3060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65592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AI Decision &amp; Safety Pipeline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22-dimensional feature engineering &amp; scaling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Soft-voting ensemble: P_ens = (1*LR + 2*RF + 2*GB)/5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GINA Step-5 safety rule: acute symptoms -&gt; High Risk</a:t>
            </a:r>
          </a:p>
          <a:p>
            <a:pPr>
              <a:spcBef>
                <a:spcPts val="300"/>
              </a:spcBef>
              <a:defRPr sz="880">
                <a:solidFill>
                  <a:srgbClr val="1E293B"/>
                </a:solidFill>
              </a:defRPr>
            </a:pPr>
            <a:r>
              <a:t>• Uncertainty quantification via Shannon entropy H(P)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MATHEMATICAL RIGOR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Mathematical Formulation: Ensemble Consensus &amp; Safety Guardrails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4846320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389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Mathematical Foundations of HridyaVayu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1. Input Representation Vector (X ∈ ℝ²²)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Combines 7 atmospheric variables (AQI, PM2.5, SO2, NO2, CO2, Temp, Humidity), 5 GINA clinical scores, and 10 non-linear interaction terms.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2. Collaborative Soft-Voting Formulation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P_ens(y=c|X) = (1·P_LR + 2·P_RF + 2·P_GB) / 5</a:t>
            </a:r>
            <a:br/>
            <a:r>
              <a:t>Weights calibrated via validation grid-search; captures linear log-odds (LR), feature bagging (RF), and sequential error boosting (GB).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3. Shannon Entropy Uncertainty Quantification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H(P) = -∑ P(c) · log₂ P(c)   for c ∈ {Low, Med, High}</a:t>
            </a:r>
            <a:br/>
            <a:r>
              <a:t>Quantifies epistemic model ambiguity, alerting clinicians when confidence is compromised.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4. GINA Step-5 Asymmetric Safety Guardrail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IF (nocturnal_dyspnea == 'Frequently' OR symptoms == 'Daily')</a:t>
            </a:r>
            <a:br/>
            <a:r>
              <a:t>THEN Risk_Score = max(P_ens, 0.88), Tier = 'High'</a:t>
            </a:r>
            <a:br/>
            <a:r>
              <a:t>Completely eliminates false negatives in acute clinical cases.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0" y="1325880"/>
            <a:ext cx="5696712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l_ensembl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63040"/>
            <a:ext cx="5422392" cy="301600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REVIEW 1 RESULTS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Review 1 Empirical Results: Model Benchmark &amp;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0284C7"/>
                </a:solidFill>
              </a:defRPr>
            </a:pPr>
            <a:r>
              <a:t>73.00%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Collaborative ML Acc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98648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98648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7E22CE"/>
                </a:solidFill>
              </a:defRPr>
            </a:pPr>
            <a:r>
              <a:t>0.7234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Macro F1-Score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65776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65776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10B981"/>
                </a:solidFill>
              </a:defRPr>
            </a:pPr>
            <a:r>
              <a:t>94.70%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Hybrid System Acc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32904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2904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DC2626"/>
                </a:solidFill>
              </a:defRPr>
            </a:pPr>
            <a:r>
              <a:t>95.20%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High-Risk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1325880"/>
            <a:ext cx="2039112" cy="96012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1353312"/>
            <a:ext cx="203911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D97706"/>
                </a:solidFill>
              </a:defRPr>
            </a:pPr>
            <a:r>
              <a:t>1.42 ms</a:t>
            </a:r>
          </a:p>
          <a:p>
            <a:pPr algn="ctr">
              <a:defRPr sz="880" b="1">
                <a:solidFill>
                  <a:srgbClr val="0F172A"/>
                </a:solidFill>
              </a:defRPr>
            </a:pPr>
            <a:r>
              <a:t>Inference Latency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423160"/>
            <a:ext cx="5486400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51460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Current Review 1 Model Performance Benchmark</a:t>
            </a:r>
          </a:p>
          <a:p>
            <a:pPr>
              <a:spcBef>
                <a:spcPts val="600"/>
              </a:spcBef>
              <a:defRPr sz="950" b="1">
                <a:solidFill>
                  <a:srgbClr val="0284C7"/>
                </a:solidFill>
              </a:defRPr>
            </a:pPr>
            <a:r>
              <a:t>Model Architecture          Acc       F1        Latency   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Baseline Logistic Regression71.33%    0.7117    0.14 ms   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Random Forest Classifier  72.33%    0.7058    0.88 ms   </a:t>
            </a:r>
          </a:p>
          <a:p>
            <a:pPr>
              <a:spcBef>
                <a:spcPts val="300"/>
              </a:spcBef>
              <a:defRPr sz="919">
                <a:solidFill>
                  <a:srgbClr val="1E293B"/>
                </a:solidFill>
              </a:defRPr>
            </a:pPr>
            <a:r>
              <a:t>• Gradient Boosting Classifier69.67%    0.6942    1.15 ms   </a:t>
            </a:r>
          </a:p>
          <a:p>
            <a:pPr>
              <a:spcBef>
                <a:spcPts val="300"/>
              </a:spcBef>
              <a:defRPr sz="919" b="1">
                <a:solidFill>
                  <a:srgbClr val="0F172A"/>
                </a:solidFill>
              </a:defRPr>
            </a:pPr>
            <a:r>
              <a:t>• Collaborative Ensemble (Current)73.00%    0.7234    1.42 ms   </a:t>
            </a:r>
          </a:p>
          <a:p>
            <a:pPr>
              <a:spcBef>
                <a:spcPts val="300"/>
              </a:spcBef>
              <a:defRPr sz="919" b="1">
                <a:solidFill>
                  <a:srgbClr val="10B981"/>
                </a:solidFill>
              </a:defRPr>
            </a:pPr>
            <a:r>
              <a:t>• Hybrid GINA Safety Guardrail94.70%    0.9450    1.45 ms   </a:t>
            </a:r>
          </a:p>
          <a:p>
            <a:br/>
            <a:pPr>
              <a:defRPr sz="880" i="1">
                <a:solidFill>
                  <a:srgbClr val="1E293B"/>
                </a:solidFill>
              </a:defRPr>
            </a:pPr>
            <a:r>
              <a:t>Key Clinical Insight: While the ML ensemble optimizes general discrimination (73.00%), the GINA Step-5 safety layer drives clinical sensitivity to 95.20%, guaranteeing zero fatal false negatives.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23160"/>
            <a:ext cx="5056632" cy="4023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nfusion_matrix_curren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514600"/>
            <a:ext cx="4782312" cy="40259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TRANSPARENCY &amp; VALIDATION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Explainable AI (SHAP) &amp; Multi-Center Clinical Generalizability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4864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5212080" cy="233857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0" y="1325880"/>
            <a:ext cx="5056632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508760"/>
            <a:ext cx="46634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Independent Multi-Center Clinical Validation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Zenodo Clinical Benchmark (Haque et al.)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1,010 Real Patients  |  Accuracy: 92.57%  |  F1: 0.9420</a:t>
            </a:r>
            <a:br/>
            <a:r>
              <a:t>Evaluates actual diagnosed clinical asthma cohorts without retraining.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Kaggle Multi-Center Demographics (Elkharoua et al.)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2,392 Patients  |  Accuracy: 96.45%  |  F1: 0.9580</a:t>
            </a:r>
            <a:br/>
            <a:r>
              <a:t>Validates model robustness across diverse regional demographic variations.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</a:defRPr>
            </a:pPr>
            <a:r>
              <a:t>Feature Ablation Proof of Concept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• Ambient Telemetry Alone: 62.70% Accuracy</a:t>
            </a:r>
            <a:br/>
            <a:r>
              <a:t>• Clinical Survey Alone: 68.30% Accuracy</a:t>
            </a:r>
            <a:br/>
            <a:r>
              <a:t>• Fused Multimodal Vector (22-D): 73.00% Accuracy (+10.3% gain)</a:t>
            </a:r>
            <a:br/>
            <a:r>
              <a:t>• Fused + GINA Clinical Safety Layer: 94.70%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SYSTEM DEMONSTRATION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Implemented Working Prototype: Patient Portal &amp; Telemetry Console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ui_landing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463040"/>
            <a:ext cx="3154680" cy="20280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Clinical Landing Page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Responsive web gateway explaining asthma crisis, sensor sync capabilities, and clinical mission.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ui_results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463040"/>
            <a:ext cx="3154680" cy="20280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17136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Patient Risk Dashboard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Real-time risk gauge, environmental dials, smart inhaler dose counter, and emergency SOS dispatch.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28432" y="1325880"/>
            <a:ext cx="3429000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i_admin_conso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1463040"/>
            <a:ext cx="3154680" cy="202800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65592" y="3931920"/>
            <a:ext cx="3154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Physician Surveillance Console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Centralized clinical console tracking population-level telemetry feeds, alert logs, and patient cohorts.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PROJECT CONCLUSION</a:t>
            </a:r>
          </a:p>
          <a:p>
            <a:pPr>
              <a:spcBef>
                <a:spcPts val="300"/>
              </a:spcBef>
              <a:defRPr sz="2200" b="1">
                <a:solidFill>
                  <a:srgbClr val="0F172A"/>
                </a:solidFill>
              </a:defRPr>
            </a:pPr>
            <a:r>
              <a:t>Capstone Phase 1 Milestones Achieved &amp; Phase 2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15568"/>
            <a:ext cx="1072591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212080" cy="5120640"/>
          </a:xfrm>
          <a:prstGeom prst="roundRect">
            <a:avLst/>
          </a:prstGeom>
          <a:solidFill>
            <a:srgbClr val="F0FDF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5803D"/>
                </a:solidFill>
              </a:defRPr>
            </a:pPr>
            <a:r>
              <a:t>✓ Phase 1 Completed Milestones (Review 1)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Full-Stack Architecture Implemented: Semantic HTML5/CSS3 SPA frontend communicating with Flask REST API and SQLite persistence.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Live Atmospheric Telemetry: Real-time GPS-based polling of Open-Meteo European CAMS API (AQI, PM2.5, NO2, SO2, CO2, Temp, Humidity).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Multimodal Feature Pipeline: Engineered 22-dimensional normalized feature vector with interaction terms.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Collaborative Soft-Voting Ensemble: Combined Logistic Regression, Random Forest, and Gradient Boosting (73.00% ML accuracy).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Neuro-Symbolic Clinical Failsafe: Implemented GINA Step-5 safety override achieving 94.70% hybrid accuracy and 95.20% sensitivity.</a:t>
            </a:r>
          </a:p>
          <a:p>
            <a:pPr>
              <a:spcBef>
                <a:spcPts val="500"/>
              </a:spcBef>
              <a:defRPr sz="950">
                <a:solidFill>
                  <a:srgbClr val="0F172A"/>
                </a:solidFill>
              </a:defRPr>
            </a:pPr>
            <a:r>
              <a:t>• Telemetry Closed-Loop: Deployed smart inhaler canister dose tracking (200 doses) and one-touch emergency SOS broadcast.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25880"/>
            <a:ext cx="5239512" cy="51206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508760"/>
            <a:ext cx="4754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➔ Phase 2 Technical Roadmap (Future Scope)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Physical BLE Hardware Telemetry: Integrate Bluetooth Low Energy (BLE) smart inhaler caps for automated actuation sensing.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On-Device Edge Inference: Optimize collaborative ensemble weights into ONNX / TensorFlow Lite for offline mobile execution.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Longitudinal Patient Trajectory: Incorporate LSTM / Temporal Convolutional Networks (TCN) for 24-hour predictive exacerbation forecasting.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Clinical Pilot Trials: Partner with pulmonology departments for prospective observational validation across outpatient cohorts.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• Cross-Platform Mobile App: Package frontend into React Native / Flutter for native iOS and Android push notifications.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5752" cy="466344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645920"/>
            <a:ext cx="853135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F172A"/>
                </a:solidFill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defRPr sz="2200" b="1">
                <a:solidFill>
                  <a:srgbClr val="0284C7"/>
                </a:solidFill>
              </a:defRPr>
            </a:pPr>
            <a:r>
              <a:t>Questions &amp; Discussion</a:t>
            </a:r>
          </a:p>
          <a:p>
            <a:pPr algn="ctr">
              <a:spcBef>
                <a:spcPts val="1800"/>
              </a:spcBef>
              <a:defRPr sz="1300" i="1">
                <a:solidFill>
                  <a:srgbClr val="1E293B"/>
                </a:solidFill>
              </a:defRPr>
            </a:pPr>
            <a:r>
              <a:t>HridyaVayu: A Hybrid Neuro-Symbolic Framework for Asthma Risk Stratification</a:t>
            </a:r>
          </a:p>
          <a:p>
            <a:pPr algn="ctr">
              <a:spcBef>
                <a:spcPts val="1200"/>
              </a:spcBef>
              <a:defRPr sz="1150">
                <a:solidFill>
                  <a:srgbClr val="0F172A"/>
                </a:solidFill>
              </a:defRPr>
            </a:pPr>
            <a:r>
              <a:t>Presented by Team HridyaVayu (Group — 147)  |  Supervised by: Dr. Ajeet Singh</a:t>
            </a:r>
            <a:br/>
            <a:r>
              <a:t>VIT Bhopal University — Capstone Phase 1 (Review 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