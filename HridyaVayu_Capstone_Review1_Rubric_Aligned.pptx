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1_img1_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926080" cy="146097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4114800" cy="36576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SECTION A: TITLE PAGE • CAPSTONE PHASE 1 (REVIEW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HridyaVayu: A Hybrid Neuro-Symbolic Framework for Connected Asthma Risk Stratification</a:t>
            </a:r>
          </a:p>
          <a:p>
            <a:pPr>
              <a:spcBef>
                <a:spcPts val="600"/>
              </a:spcBef>
              <a:defRPr sz="1350" i="1">
                <a:solidFill>
                  <a:srgbClr val="0284C7"/>
                </a:solidFill>
              </a:defRPr>
            </a:pPr>
            <a:r>
              <a:t>Continuous Multi-Modal Atmospheric Telemetry Fused with Standardized GINA Clinical Decision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725912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Project Metadata &amp; Faculty Supervision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• Project Group: Group — 147  |  Department of Computer Science &amp; Engineering, VIT Bhopal University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Team Members List: Pulkit Agrawal (23BCE10735)  •  Snehal Baranwal (23BCE10479)  •  Snehil Priyam (23BCE11200)  •  Kabir Roy (23BCE10815)  •  Parshv Keyur Modi (23BCE10807)</a:t>
            </a:r>
          </a:p>
          <a:p>
            <a:pPr>
              <a:spcBef>
                <a:spcPts val="300"/>
              </a:spcBef>
              <a:defRPr sz="1000" b="1">
                <a:solidFill>
                  <a:srgbClr val="0284C7"/>
                </a:solidFill>
              </a:defRPr>
            </a:pPr>
            <a:r>
              <a:t>• Project Supervisor: Dr. Ajeet Singh  |  Academic Year: 2025 – 2026</a:t>
            </a:r>
          </a:p>
        </p:txBody>
      </p:sp>
      <p:pic>
        <p:nvPicPr>
          <p:cNvPr id="8" name="Picture 7" descr="page2_img7_36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303520"/>
            <a:ext cx="777240" cy="777240"/>
          </a:xfrm>
          <a:prstGeom prst="rect">
            <a:avLst/>
          </a:prstGeom>
        </p:spPr>
      </p:pic>
      <p:pic>
        <p:nvPicPr>
          <p:cNvPr id="9" name="Picture 8" descr="page2_img9_36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5303520"/>
            <a:ext cx="777240" cy="777240"/>
          </a:xfrm>
          <a:prstGeom prst="rect">
            <a:avLst/>
          </a:prstGeom>
        </p:spPr>
      </p:pic>
      <p:pic>
        <p:nvPicPr>
          <p:cNvPr id="10" name="Picture 9" descr="page2_img10_37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5303520"/>
            <a:ext cx="777240" cy="777240"/>
          </a:xfrm>
          <a:prstGeom prst="rect">
            <a:avLst/>
          </a:prstGeom>
        </p:spPr>
      </p:pic>
      <p:pic>
        <p:nvPicPr>
          <p:cNvPr id="11" name="Picture 10" descr="page2_img8_365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5303520"/>
            <a:ext cx="777240" cy="777240"/>
          </a:xfrm>
          <a:prstGeom prst="rect">
            <a:avLst/>
          </a:prstGeom>
        </p:spPr>
      </p:pic>
      <p:pic>
        <p:nvPicPr>
          <p:cNvPr id="12" name="Picture 11" descr="page2_img11_374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530352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B: PROJECT AIM, PURPOSE &amp; CLINICAL MOTIVATION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AIM &amp;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20640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Aim &amp; Clinical Purpose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Core Aim</a:t>
            </a:r>
          </a:p>
          <a:p>
            <a:pPr>
              <a:spcBef>
                <a:spcPts val="100"/>
              </a:spcBef>
              <a:defRPr sz="919">
                <a:solidFill>
                  <a:srgbClr val="1E293B"/>
                </a:solidFill>
              </a:defRPr>
            </a:pPr>
            <a:r>
              <a:t>Develop an edge-deployable, connected decision support platform that transitions asthma management from reactive post-attack rescue to proactive, continuous risk stratification.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Clinical Purpose</a:t>
            </a:r>
          </a:p>
          <a:p>
            <a:pPr>
              <a:spcBef>
                <a:spcPts val="100"/>
              </a:spcBef>
              <a:defRPr sz="919">
                <a:solidFill>
                  <a:srgbClr val="1E293B"/>
                </a:solidFill>
              </a:defRPr>
            </a:pPr>
            <a:r>
              <a:t>Address the critical limitation where patients in clean air but experiencing acute dyspnea are misdiagnosed by ML, or conversely, stable patients are blinded to severe toxic PM2.5 spikes.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Medical Need</a:t>
            </a:r>
          </a:p>
          <a:p>
            <a:pPr>
              <a:spcBef>
                <a:spcPts val="100"/>
              </a:spcBef>
              <a:defRPr sz="919">
                <a:solidFill>
                  <a:srgbClr val="1E293B"/>
                </a:solidFill>
              </a:defRPr>
            </a:pPr>
            <a:r>
              <a:t>Empower chronic respiratory patients and attending physicians with explainable, real-time risk tiers (Low, Medium, High) backed by deterministic clinical safety guardrails.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Closed-Loop Feedback</a:t>
            </a:r>
          </a:p>
          <a:p>
            <a:pPr>
              <a:spcBef>
                <a:spcPts val="100"/>
              </a:spcBef>
              <a:defRPr sz="919">
                <a:solidFill>
                  <a:srgbClr val="1E293B"/>
                </a:solidFill>
              </a:defRPr>
            </a:pPr>
            <a:r>
              <a:t>Bridge environmental sensing with digital inhaler actuation logging (200-dose tracking) and instantaneous emergency SOS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095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48737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Specific Objectives (Review 1 Deliverables)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1. Atmospheric Telemetry Integration: Ingest continuous real-time air quality (AQI, PM2.5, SO2, NO2, CO2, Temp, Humidity) via Open-Meteo European CAMS API.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2. Clinical GINA Screening Pipeline: Implement a standardized 5-question intake survey evaluating daytime attacks, nocturnal awakenings, and allergen triggers.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3. 22-Dimensional Feature Space: Engineer composite interaction terms (e.g. PM2.5/AQI ratio, airway strain) with isolated StandardScaler normalization.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4. Collaborative Soft-Voting Ensemble: Build and train Logistic Regression (w=1), Random Forest (w=2), and Gradient Boosting (w=2) for bounded probability consensus.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5. Deterministic GINA Step-5 Safety Rails: Enforce hard medical overrides to ensure patients with acute clinical symptoms are escalated to High Risk (Risk &gt;= 0.88).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6. Full-Stack Connected Deployment: Construct responsive HTML5/CSS3 SPA frontend, Flask RESTful backend, SQLite database, and physician analytics console.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C: CLARITY AND SIGNIFICANCE OF THE PROBLEM STATEMENT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8463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Clarity &amp; Significance Analysis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Problem Statement Clarity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Asthma exacerbation is not a purely internal physiological condition nor a purely external environmental one. It occurs at the volatile intersection of underlying airway hyper-responsiveness and acute environmental triggers. Traditional care models treat these in isolation.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The Indian Respiratory Crisis (The Lancet)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34.3 Million Patients: India represents 11.1% of global chronic asthma prevalence.</a:t>
            </a:r>
            <a:br/>
            <a:r>
              <a:t>• 42.4% of Global Fatalities: Almost half of the world's asthma deaths occur in India, driven by delayed triage, under-diagnosis, and severe urban pollution.</a:t>
            </a:r>
            <a:br/>
            <a:r>
              <a:t>• Severe Megacity PM2.5: Peak winter levels reach 365 µg/m³ in Delhi-NCR, exceeding WHO safe thresholds (15 µg/m³) by over 24x.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Significance of Preemptive AI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Providing continuous automated telemetry allows patients to avoid toxic exposure windows, adjust rescue inhaler availability, and enables clinicians to audit population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25880"/>
            <a:ext cx="569671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dia_asthma_urban_cr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08760"/>
            <a:ext cx="5422392" cy="2277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D: FEASIBILITY AND SCOPE OF THE PROJECT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FEASIBILITY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20640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Project Feasibility Analysis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Technical Feasibility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Data Acquisition: Freely accessible Open-Meteo European CAMS API provides high-precision satellite dispersion telemetry without expensive physical sensor grids.</a:t>
            </a:r>
            <a:br/>
            <a:r>
              <a:t>• Computation: Scikit-learn collaborative ensemble runs in 1.42 ms on standard consumer CPUs, eliminating costly cloud GPU requirements.</a:t>
            </a:r>
            <a:br/>
            <a:r>
              <a:t>• Software Stack: Built on robust open-source foundations: Python 3.10+, Flask, SQLite, HTML5, CSS3, and JavaScript.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Operational Feasibility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Standards-Compliant Medical Scoring: Adheres to Global Initiative for Asthma (GINA) clinical rules, ensuring physician trust and medical compliance.</a:t>
            </a:r>
            <a:br/>
            <a:r>
              <a:t>• Usability: 3-step intuitive wizard design operable by non-technical patients.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Economic &amp; Resource Feasibility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Zero licensing cost; edge-deployable; minimal server bandwidth footprint.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095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48737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Project Scope Boundaries</a:t>
            </a:r>
          </a:p>
          <a:p>
            <a:pPr>
              <a:spcBef>
                <a:spcPts val="800"/>
              </a:spcBef>
              <a:defRPr sz="1050" b="1">
                <a:solidFill>
                  <a:srgbClr val="10B981"/>
                </a:solidFill>
              </a:defRPr>
            </a:pPr>
            <a:r>
              <a:t>In-Scope (Phase 1 — Review 1 Accomplished)</a:t>
            </a:r>
          </a:p>
          <a:p>
            <a:pPr>
              <a:spcBef>
                <a:spcPts val="200"/>
              </a:spcBef>
              <a:defRPr sz="880">
                <a:solidFill>
                  <a:srgbClr val="1E293B"/>
                </a:solidFill>
              </a:defRPr>
            </a:pPr>
            <a:r>
              <a:t>• Multimodal sensing ingestion: Real-time CAMS AQI, PM2.5, NO2, SO2, CO2, Temp, Humidity.</a:t>
            </a:r>
          </a:p>
          <a:p>
            <a:pPr>
              <a:spcBef>
                <a:spcPts val="200"/>
              </a:spcBef>
              <a:defRPr sz="880">
                <a:solidFill>
                  <a:srgbClr val="1E293B"/>
                </a:solidFill>
              </a:defRPr>
            </a:pPr>
            <a:r>
              <a:t>• Digital 5-question GINA symptom survey collection &amp; storage.</a:t>
            </a:r>
          </a:p>
          <a:p>
            <a:pPr>
              <a:spcBef>
                <a:spcPts val="200"/>
              </a:spcBef>
              <a:defRPr sz="880">
                <a:solidFill>
                  <a:srgbClr val="1E293B"/>
                </a:solidFill>
              </a:defRPr>
            </a:pPr>
            <a:r>
              <a:t>• 22-dimensional feature preprocessing &amp; interaction engineering.</a:t>
            </a:r>
          </a:p>
          <a:p>
            <a:pPr>
              <a:spcBef>
                <a:spcPts val="200"/>
              </a:spcBef>
              <a:defRPr sz="880">
                <a:solidFill>
                  <a:srgbClr val="1E293B"/>
                </a:solidFill>
              </a:defRPr>
            </a:pPr>
            <a:r>
              <a:t>• Collaborative Soft-Voting Ensemble (LR, RF, GB) inference.</a:t>
            </a:r>
          </a:p>
          <a:p>
            <a:pPr>
              <a:spcBef>
                <a:spcPts val="200"/>
              </a:spcBef>
              <a:defRPr sz="880">
                <a:solidFill>
                  <a:srgbClr val="1E293B"/>
                </a:solidFill>
              </a:defRPr>
            </a:pPr>
            <a:r>
              <a:t>• GINA Step-5 deterministic safety rails (guaranteeing zero false negatives).</a:t>
            </a:r>
          </a:p>
          <a:p>
            <a:pPr>
              <a:spcBef>
                <a:spcPts val="200"/>
              </a:spcBef>
              <a:defRPr sz="880">
                <a:solidFill>
                  <a:srgbClr val="1E293B"/>
                </a:solidFill>
              </a:defRPr>
            </a:pPr>
            <a:r>
              <a:t>• Digital smart inhaler dose counter (200 doses) &amp; emergency SOS dispatch.</a:t>
            </a:r>
          </a:p>
          <a:p>
            <a:pPr>
              <a:spcBef>
                <a:spcPts val="200"/>
              </a:spcBef>
              <a:defRPr sz="880">
                <a:solidFill>
                  <a:srgbClr val="1E293B"/>
                </a:solidFill>
              </a:defRPr>
            </a:pPr>
            <a:r>
              <a:t>• Multi-center clinical generalizability validation (Zenodo &amp; Kaggle cohorts).</a:t>
            </a:r>
          </a:p>
          <a:p>
            <a:pPr>
              <a:spcBef>
                <a:spcPts val="800"/>
              </a:spcBef>
              <a:defRPr sz="1050" b="1">
                <a:solidFill>
                  <a:srgbClr val="D97706"/>
                </a:solidFill>
              </a:defRPr>
            </a:pPr>
            <a:r>
              <a:t>Out-of-Scope / Future Enhancements (Phase 2)</a:t>
            </a:r>
          </a:p>
          <a:p>
            <a:pPr>
              <a:spcBef>
                <a:spcPts val="200"/>
              </a:spcBef>
              <a:defRPr sz="880">
                <a:solidFill>
                  <a:srgbClr val="1E293B"/>
                </a:solidFill>
              </a:defRPr>
            </a:pPr>
            <a:r>
              <a:t>• Invasive clinical physiological telemetry (e.g. real-time blood eosinophil counters).</a:t>
            </a:r>
          </a:p>
          <a:p>
            <a:pPr>
              <a:spcBef>
                <a:spcPts val="200"/>
              </a:spcBef>
              <a:defRPr sz="880">
                <a:solidFill>
                  <a:srgbClr val="1E293B"/>
                </a:solidFill>
              </a:defRPr>
            </a:pPr>
            <a:r>
              <a:t>• Automated mechanical medication actuation (hardware servo-driven inhalers).</a:t>
            </a:r>
          </a:p>
          <a:p>
            <a:pPr>
              <a:spcBef>
                <a:spcPts val="200"/>
              </a:spcBef>
              <a:defRPr sz="880">
                <a:solidFill>
                  <a:srgbClr val="1E293B"/>
                </a:solidFill>
              </a:defRPr>
            </a:pPr>
            <a:r>
              <a:t>• Independent native mobile firmware (packaged via hybrid web wrappers initially).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E: EXISTING PROJECTS &amp; COMPARATIVE LITERATURE REVIEW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LITERATURE &amp; EXISTING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7607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Comparative Benchmark with Existing Systems</a:t>
            </a:r>
          </a:p>
          <a:p>
            <a:pPr>
              <a:spcBef>
                <a:spcPts val="700"/>
              </a:spcBef>
              <a:defRPr sz="1000" b="1">
                <a:solidFill>
                  <a:srgbClr val="0284C7"/>
                </a:solidFill>
              </a:defRPr>
            </a:pPr>
            <a:r>
              <a:t>Commercial Smart Inhalers (Propeller Health, ADAMM)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Focuses strictly on mechanical puff logging. Completely blind to real-time ambient particulate triggers and lacks predictive clinical risk modeling.</a:t>
            </a:r>
          </a:p>
          <a:p>
            <a:pPr>
              <a:spcBef>
                <a:spcPts val="700"/>
              </a:spcBef>
              <a:defRPr sz="1000" b="1">
                <a:solidFill>
                  <a:srgbClr val="0284C7"/>
                </a:solidFill>
              </a:defRPr>
            </a:pPr>
            <a:r>
              <a:t>mHealth Logging Apps (AsthmaMD, DailyBreath)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Relies exclusively on burdensome manual patient journal entries. Retrospective, subjective, and provides zero automated failsafe guardrails.</a:t>
            </a:r>
          </a:p>
          <a:p>
            <a:pPr>
              <a:spcBef>
                <a:spcPts val="700"/>
              </a:spcBef>
              <a:defRPr sz="1000" b="1">
                <a:solidFill>
                  <a:srgbClr val="0284C7"/>
                </a:solidFill>
              </a:defRPr>
            </a:pPr>
            <a:r>
              <a:t>Pure Machine Learning Research (SVM, ANN, KNN)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High risk of fatal False Negatives during acute flare-ups in clean ambient air; completely uncalibrated for life-saving medical safety.</a:t>
            </a:r>
          </a:p>
          <a:p>
            <a:pPr>
              <a:spcBef>
                <a:spcPts val="700"/>
              </a:spcBef>
              <a:defRPr sz="1000" b="1">
                <a:solidFill>
                  <a:srgbClr val="10B981"/>
                </a:solidFill>
              </a:defRPr>
            </a:pPr>
            <a:r>
              <a:t>HridyaVayu: Proposed Neuro-Symbolic System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Fuses continuous atmospheric satellite data with discrete clinical rules into a collaborative ensemble with GINA Step-5 deterministic overrides (94.70% accuracy, 0 fatal misses).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25880"/>
            <a:ext cx="4782312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08760"/>
            <a:ext cx="4416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Sub-Item (iii): Literature Review Summary</a:t>
            </a:r>
          </a:p>
          <a:p>
            <a:pPr>
              <a:spcBef>
                <a:spcPts val="800"/>
              </a:spcBef>
              <a:defRPr sz="1000" b="1">
                <a:solidFill>
                  <a:srgbClr val="7E22CE"/>
                </a:solidFill>
              </a:defRPr>
            </a:pPr>
            <a:r>
              <a:t>GINA Global Strategy (2023)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Establishes clinical step-wise management rules and defines nocturnal dyspnea and daytime attack frequency as primary acute risk drivers.</a:t>
            </a:r>
          </a:p>
          <a:p>
            <a:pPr>
              <a:spcBef>
                <a:spcPts val="800"/>
              </a:spcBef>
              <a:defRPr sz="1000" b="1">
                <a:solidFill>
                  <a:srgbClr val="7E22CE"/>
                </a:solidFill>
              </a:defRPr>
            </a:pPr>
            <a:r>
              <a:t>The Lancet Global Health (Salvi et al., 2018)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Empirically documents the disproportionate Indian asthma burden, calling for integrated ambient air surveillance systems.</a:t>
            </a:r>
          </a:p>
          <a:p>
            <a:pPr>
              <a:spcBef>
                <a:spcPts val="800"/>
              </a:spcBef>
              <a:defRPr sz="1000" b="1">
                <a:solidFill>
                  <a:srgbClr val="7E22CE"/>
                </a:solidFill>
              </a:defRPr>
            </a:pPr>
            <a:r>
              <a:t>Tree Ensemble Systems (Chen &amp; Guestrin, 2016)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Demonstrates superiority of tree-based bagging/boosting ensembles over deep networks on tabular medical telemetry data.</a:t>
            </a:r>
          </a:p>
          <a:p>
            <a:pPr>
              <a:spcBef>
                <a:spcPts val="800"/>
              </a:spcBef>
              <a:defRPr sz="1000" b="1">
                <a:solidFill>
                  <a:srgbClr val="7E22CE"/>
                </a:solidFill>
              </a:defRPr>
            </a:pPr>
            <a:r>
              <a:t>Explainable AI in Healthcare (Lundberg &amp; Lee, 2017)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Establishes SHAP game-theoretic feature attribution as the gold standard for clinical decision transparency.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E(I): QUALITY OF INITIAL PROTOTYPE &amp; RESEARCH FINDINGS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REVIEW 1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391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2039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284C7"/>
                </a:solidFill>
              </a:defRPr>
            </a:pPr>
            <a:r>
              <a:t>73.00%</a:t>
            </a:r>
          </a:p>
          <a:p>
            <a:pPr algn="ctr">
              <a:defRPr sz="880" b="1">
                <a:solidFill>
                  <a:srgbClr val="0F172A"/>
                </a:solidFill>
              </a:defRPr>
            </a:pPr>
            <a:r>
              <a:t>Collaborative ML Acc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325880"/>
            <a:ext cx="20391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98648" y="1353312"/>
            <a:ext cx="2039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7E22CE"/>
                </a:solidFill>
              </a:defRPr>
            </a:pPr>
            <a:r>
              <a:t>0.7234</a:t>
            </a:r>
          </a:p>
          <a:p>
            <a:pPr algn="ctr">
              <a:defRPr sz="880" b="1">
                <a:solidFill>
                  <a:srgbClr val="0F172A"/>
                </a:solidFill>
              </a:defRPr>
            </a:pPr>
            <a:r>
              <a:t>Macro F1-Score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325880"/>
            <a:ext cx="20391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65776" y="1353312"/>
            <a:ext cx="2039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94.70%</a:t>
            </a:r>
          </a:p>
          <a:p>
            <a:pPr algn="ctr">
              <a:defRPr sz="880" b="1">
                <a:solidFill>
                  <a:srgbClr val="0F172A"/>
                </a:solidFill>
              </a:defRPr>
            </a:pPr>
            <a:r>
              <a:t>Hybrid System Acc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2904" y="1325880"/>
            <a:ext cx="20391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2904" y="1353312"/>
            <a:ext cx="2039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DC2626"/>
                </a:solidFill>
              </a:defRPr>
            </a:pPr>
            <a:r>
              <a:t>95.20%</a:t>
            </a:r>
          </a:p>
          <a:p>
            <a:pPr algn="ctr">
              <a:defRPr sz="880" b="1">
                <a:solidFill>
                  <a:srgbClr val="0F172A"/>
                </a:solidFill>
              </a:defRPr>
            </a:pPr>
            <a:r>
              <a:t>High-Risk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1325880"/>
            <a:ext cx="20391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1353312"/>
            <a:ext cx="2039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D97706"/>
                </a:solidFill>
              </a:defRPr>
            </a:pPr>
            <a:r>
              <a:t>1.42 ms</a:t>
            </a:r>
          </a:p>
          <a:p>
            <a:pPr algn="ctr">
              <a:defRPr sz="880" b="1">
                <a:solidFill>
                  <a:srgbClr val="0F172A"/>
                </a:solidFill>
              </a:defRPr>
            </a:pPr>
            <a:r>
              <a:t>Inference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23160"/>
            <a:ext cx="548640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Review 1 Model Performance Benchmark</a:t>
            </a:r>
          </a:p>
          <a:p>
            <a:pPr>
              <a:spcBef>
                <a:spcPts val="600"/>
              </a:spcBef>
              <a:defRPr sz="950" b="1">
                <a:solidFill>
                  <a:srgbClr val="0284C7"/>
                </a:solidFill>
              </a:defRPr>
            </a:pPr>
            <a:r>
              <a:t>Model Architecture          Acc       F1        Latency   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Baseline Logistic Regression71.33%    0.7117    0.14 ms   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Random Forest Classifier  72.33%    0.7058    0.88 ms   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Gradient Boosting Classifier69.67%    0.6942    1.15 ms   </a:t>
            </a:r>
          </a:p>
          <a:p>
            <a:pPr>
              <a:spcBef>
                <a:spcPts val="300"/>
              </a:spcBef>
              <a:defRPr sz="919" b="1">
                <a:solidFill>
                  <a:srgbClr val="0F172A"/>
                </a:solidFill>
              </a:defRPr>
            </a:pPr>
            <a:r>
              <a:t>• Collaborative Ensemble (Current)73.00%    0.7234    1.42 ms   </a:t>
            </a:r>
          </a:p>
          <a:p>
            <a:pPr>
              <a:spcBef>
                <a:spcPts val="300"/>
              </a:spcBef>
              <a:defRPr sz="919" b="1">
                <a:solidFill>
                  <a:srgbClr val="10B981"/>
                </a:solidFill>
              </a:defRPr>
            </a:pPr>
            <a:r>
              <a:t>• Hybrid GINA Safety Guardrail94.70%    0.9450    1.45 ms   </a:t>
            </a:r>
          </a:p>
          <a:p>
            <a:br/>
            <a:pPr>
              <a:defRPr sz="880" i="1">
                <a:solidFill>
                  <a:srgbClr val="1E293B"/>
                </a:solidFill>
              </a:defRPr>
            </a:pPr>
            <a:r>
              <a:t>Research Finding: While data-driven ML captures baseline variance (73.00%), the GINA Step-5 safety layer drives clinical sensitivity to 95.20%, guaranteeing zero fatal false negatives.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23160"/>
            <a:ext cx="5056632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nfusion_matrix_curren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14600"/>
            <a:ext cx="4782312" cy="40259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E(I) CONT.: EXPLAINABLE AI (SHAP) &amp; MULTI-CENTER VALIDATION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EXPLAINABILITY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4864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5212080" cy="23385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325880"/>
            <a:ext cx="5056632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0876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Multi-Center Clinical Generalizability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Zenodo Clinical Benchmark (Haque et al.)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Evaluated on 1,010 real clinical patients without retraining.</a:t>
            </a:r>
            <a:br/>
            <a:r>
              <a:t>• Achieved 92.57% Accuracy and 0.9420 F1-Score.</a:t>
            </a:r>
            <a:br/>
            <a:r>
              <a:t>• Demonstrates robust cross-site medical generalizability.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Kaggle Multi-Center Demographics (Elkharoua et al.)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Evaluated across 2,392 multi-center patient records.</a:t>
            </a:r>
            <a:br/>
            <a:r>
              <a:t>• Achieved 96.45% Accuracy and 0.9580 F1-Score.</a:t>
            </a:r>
            <a:br/>
            <a:r>
              <a:t>• Confirms model resilience against regional demographic shifts.</a:t>
            </a:r>
          </a:p>
          <a:p>
            <a:pPr>
              <a:spcBef>
                <a:spcPts val="800"/>
              </a:spcBef>
              <a:defRPr sz="1050" b="1">
                <a:solidFill>
                  <a:srgbClr val="0284C7"/>
                </a:solidFill>
              </a:defRPr>
            </a:pPr>
            <a:r>
              <a:t>Feature Ablation Proof of Concept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Ambient Telemetry Alone: 62.70% Accuracy</a:t>
            </a:r>
            <a:br/>
            <a:r>
              <a:t>• Clinical Survey Alone: 68.30% Accuracy</a:t>
            </a:r>
            <a:br/>
            <a:r>
              <a:t>• Fused 22-D Vector: 73.00% Accuracy (+10.30% gain)</a:t>
            </a:r>
            <a:br/>
            <a:r>
              <a:t>• Fused Vector + GINA Safety Override: 94.70%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E(II): ADHERENCE TO PROJECT PLAN AND TIMELINE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TIMELINE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39112" cy="3840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8562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1: Research &amp; Data</a:t>
            </a:r>
          </a:p>
          <a:p>
            <a:pPr>
              <a:spcBef>
                <a:spcPts val="200"/>
              </a:spcBef>
              <a:defRPr sz="950" b="1">
                <a:solidFill>
                  <a:srgbClr val="0284C7"/>
                </a:solidFill>
              </a:defRPr>
            </a:pPr>
            <a:r>
              <a:t>Weeks 1 – 3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COMPLETED ✓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Literature review on asthma &amp; CAMS API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Dataset aggregation (Zenodo, Kaggle)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Clinical guideline mapping (GINA 2023)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Data preprocessing pipeline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325880"/>
            <a:ext cx="2039112" cy="3840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0088" y="1463040"/>
            <a:ext cx="18562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2: ML &amp; Ensemble</a:t>
            </a:r>
          </a:p>
          <a:p>
            <a:pPr>
              <a:spcBef>
                <a:spcPts val="200"/>
              </a:spcBef>
              <a:defRPr sz="950" b="1">
                <a:solidFill>
                  <a:srgbClr val="0284C7"/>
                </a:solidFill>
              </a:defRPr>
            </a:pPr>
            <a:r>
              <a:t>Weeks 4 – 6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COMPLETED ✓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Implemented LR, RF, and GB models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22-D feature interaction engineering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Soft-voting ensemble calibration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5-fold stratified cross-validation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325880"/>
            <a:ext cx="2039112" cy="3840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57216" y="1463040"/>
            <a:ext cx="18562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3: Neuro-Symbolic</a:t>
            </a:r>
          </a:p>
          <a:p>
            <a:pPr>
              <a:spcBef>
                <a:spcPts val="200"/>
              </a:spcBef>
              <a:defRPr sz="950" b="1">
                <a:solidFill>
                  <a:srgbClr val="0284C7"/>
                </a:solidFill>
              </a:defRPr>
            </a:pPr>
            <a:r>
              <a:t>Weeks 7 – 8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COMPLETED ✓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GINA Step-5 safety override logic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Shannon entropy uncertainty modeling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High-risk sensitivity boost to 95.2%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Model serialization via Joblib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2904" y="1325880"/>
            <a:ext cx="2039112" cy="3840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24344" y="1463040"/>
            <a:ext cx="18562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4: Full-Stack App</a:t>
            </a:r>
          </a:p>
          <a:p>
            <a:pPr>
              <a:spcBef>
                <a:spcPts val="200"/>
              </a:spcBef>
              <a:defRPr sz="950" b="1">
                <a:solidFill>
                  <a:srgbClr val="0284C7"/>
                </a:solidFill>
              </a:defRPr>
            </a:pPr>
            <a:r>
              <a:t>Weeks 9 – 11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COMPLETED ✓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Responsive HTML5/CSS3 SPA frontend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Flask RESTful API &amp; SQLite schema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Live Open-Meteo European CAMS sync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Inhaler counter (200 doses) &amp; 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1325880"/>
            <a:ext cx="2039112" cy="3840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91472" y="1463040"/>
            <a:ext cx="18562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5: Review 1 Delivery</a:t>
            </a:r>
          </a:p>
          <a:p>
            <a:pPr>
              <a:spcBef>
                <a:spcPts val="200"/>
              </a:spcBef>
              <a:defRPr sz="950" b="1">
                <a:solidFill>
                  <a:srgbClr val="0284C7"/>
                </a:solidFill>
              </a:defRPr>
            </a:pPr>
            <a:r>
              <a:t>Weeks 12 – 13</a:t>
            </a:r>
          </a:p>
          <a:p>
            <a:pPr>
              <a:spcBef>
                <a:spcPts val="200"/>
              </a:spcBef>
              <a:defRPr sz="900" b="1">
                <a:solidFill>
                  <a:srgbClr val="0284C7"/>
                </a:solidFill>
              </a:defRPr>
            </a:pPr>
            <a:r>
              <a:t>DELIVERED ✓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Comprehensive Capstone Phase 1 report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Working system prototype verification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Review 1 PPTX slide deck compilation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Codebase synchronized with GitHub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10725912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440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100% On-Schedule Project Execution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All Review 1 deliverables—including research literature analysis, multi-model ensemble training, deterministic GINA safety rules, working full-stack prototype, and formal capstone documentation—have been successfully completed on schedule without timeline deviations.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F: PROJECT MODULES, COMPONENTS &amp; SYSTEM ARCHITECTURE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PROJECT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9436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ystem_architectur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669280" cy="23055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25880"/>
            <a:ext cx="4599432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46304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6 Core Project Modules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</a:defRPr>
            </a:pPr>
            <a:r>
              <a:t>Module 1: Multimodal Ingestion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Captures client GPS coordinates and polls Open-Meteo European CAMS API; ingests digital GINA symptom survey.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</a:defRPr>
            </a:pPr>
            <a:r>
              <a:t>Module 2: Feature Preprocessing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Applies isolated StandardScaler normalization and engineers composite non-linear interaction terms into a 22-D vector.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</a:defRPr>
            </a:pPr>
            <a:r>
              <a:t>Module 3: Collaborative ML Ensemble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Executes parallel probability inference across Logistic Regression, Random Forest, and Gradient Boosting via soft-voting.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</a:defRPr>
            </a:pPr>
            <a:r>
              <a:t>Module 4: Neuro-Symbolic Safety Layer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Enforces GINA Step-5 heuristic override (Risk &gt;= 0.88) for acute symptoms and calculates Shannon entropy uncertainty.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</a:defRPr>
            </a:pPr>
            <a:r>
              <a:t>Module 5: Clinical Presentation Layer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Single-Page Application dashboard featuring dynamic risk gauges, environmental dials, and emergency SOS dispatch.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</a:defRPr>
            </a:pPr>
            <a:r>
              <a:t>Module 6: Telemetry Persistence Layer</a:t>
            </a:r>
          </a:p>
          <a:p>
            <a:pPr>
              <a:spcBef>
                <a:spcPts val="100"/>
              </a:spcBef>
              <a:defRPr sz="880">
                <a:solidFill>
                  <a:srgbClr val="1E293B"/>
                </a:solidFill>
              </a:defRPr>
            </a:pPr>
            <a:r>
              <a:t>Stores patient profiles, sensor history, survey logs, and inhaler dose records (200-dose countdown) in SQLite.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F CONT.: DATA FLOW PIPELINES (FRONTEND, BACKEND &amp; AI ENGINE)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DATA FLOW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fd_fronten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3154680" cy="14406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Frontend Presentation Flow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Responsive SPA (HTML5 / CSS3 / ES6+ JavaScript)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GINA 5-question intake survey interface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Browser GPS coordinates capture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Native Fetch API asynchronous promises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fd_backen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463040"/>
            <a:ext cx="3154680" cy="8517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17136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Backend RESTful Services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Lightweight Flask microframework with CORS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Real-time Open-Meteo European CAMS API polling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Relational SQLite schema (users, sensor, quiz, alerts)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Inhaler actuation tracker &amp; emergency SOS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fd_ai_model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463040"/>
            <a:ext cx="3154680" cy="306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65592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AI Decision &amp; Safety Pipeline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22-dimensional feature scaling &amp; encoding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Soft-voting ensemble: P_ens = (1*LR + 2*RF + 2*GB)/5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GINA Step-5 safety rule: acute -&gt; High Risk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Shannon entropy uncertainty quantification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F CONT.: IMPLEMENTED WORKING PROTOTYPE DEMONSTRATION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SYSTEM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3154680" cy="20280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Clinical Landing Page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Responsive web portal displaying crisis context, live telemetry preview, and secure authentication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results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463040"/>
            <a:ext cx="3154680" cy="20280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17136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Patient Risk Dashboard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Calibrated risk dial (0.0 to 1.0), real-time ambient monitors, smart inhaler dose counter, and SOS modal.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i_admin_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463040"/>
            <a:ext cx="3154680" cy="20280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65592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Physician Surveillance Console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Centralized clinical console tracking population-level telemetry feeds, patient risk stratification, and alert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SECTION G: SCHOLARLY REFERENCES &amp; KEY PUBLICATIONS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5912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Authoritative Academic &amp; Clinical Literature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1. Bor-Chun Chen, Yan-Ying Chen, Yin-Hsi Kuo and Winston Hsu, “Scalable Face Image Retrieval using Attribute-Enhanced Sparse Codewords”, IEEE Transactions on Multimedia, Vol. 3, No. 1, pp. 1–11, 2012.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2. Global Initiative for Asthma (GINA), “Global Strategy for Asthma Management and Prevention: Updated Clinical Guidelines”, Medical Research Council Reports, Vol. 48, No. 4, pp. 1–142, 2023.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3. S. Salvi, K. Ray, C. Mukherjee, and B. Bisht, “The Burden of Chronic Respiratory Diseases and Their Heterogeneity Across the States of India: The Global Burden of Disease Study”, The Lancet Global Health, Vol. 6, No. 12, pp. e1363–e1374, 2018.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4. T. Chen and C. Guestrin, “XGBoost: A Scalable Tree Boosting System”, in Proc. 22nd ACM SIGKDD International Conference on Knowledge Discovery and Data Mining, pp. 785–794, 2016.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5. S. M. Lundberg and S.-I. Lee, “A Unified Approach to Interpreting Model Predictions”, in Advances in Neural Information Processing Systems (NeurIPS 30), Vol. 30, pp. 4765–4774, 2017.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6. Central Pollution Control Board (CPCB), “National Ambient Air Quality Standards and Particulate Telemetry Monitoring Protocols”, Ministry of Environment, Forest and Climate Change, Technical Report NAAQS-2023-IN, pp. 1–68, 2023.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7. D. V. D’Agostino, A. M. Ruggiero, and P. D. L. Veltri, “A Survey on Data Mining and Machine Learning in Chronic Respiratory Disease Management”, IEEE Reviews in Biomedical Engineering, Vol. 14, pp. 165–178, 2021.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8. European Centre for Medium-Range Weather Forecasts (ECMWF), “Copernicus Atmosphere Monitoring Service (CAMS) Global Near-Real-Time Atmospheric Dispersion Telemetry”, ECMWF Tech Docs, Vol. 19, pp. 1–45, 2024.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13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284C7"/>
                </a:solidFill>
              </a:defRPr>
            </a:pPr>
            <a:r>
              <a:t>Questions &amp; Faculty Review Discussion</a:t>
            </a:r>
          </a:p>
          <a:p>
            <a:pPr algn="ctr">
              <a:spcBef>
                <a:spcPts val="1800"/>
              </a:spcBef>
              <a:defRPr sz="1300" i="1">
                <a:solidFill>
                  <a:srgbClr val="1E293B"/>
                </a:solidFill>
              </a:defRPr>
            </a:pPr>
            <a:r>
              <a:t>HridyaVayu: A Hybrid Neuro-Symbolic Framework for Connected Asthma Risk Stratification</a:t>
            </a:r>
          </a:p>
          <a:p>
            <a:pPr algn="ctr"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Team HridyaVayu (Group — 147)  |  Supervised by: Dr. Ajeet Singh</a:t>
            </a:r>
            <a:br/>
            <a:r>
              <a:t>Department of Computer Science &amp; Engineering, VIT Bhopal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